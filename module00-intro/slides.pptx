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learn HDL simulator. This short path teaches the workflow of a browser-based HDL IDE—files, hierarchy, signals, waves, and the console—so you stop getting lost every time you open a session. Browser literacy labs teach the moves; the public HDL Simulator is where you practice for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course you’ll tour the five IDE panes, load a tiny DUT and use Run, Stop, and Reset, then Step and Continue with a breakpoint mindset. You’ll poke and force safely, read full-sim waves with cursors, link multi-file projects, compare against a golden at a cursor, and glance at style and synth hints. Sibling courses cover Verilog language depth, Icarus, and Verilator—here the job is simulator literacy.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A is the public HDL Simulator in a modern browser—Files, Hierarchy, Signals, Wave, and Console in a live session. Track B is the platform’s hdl-sim concept labs: guided challenges for tour, hello DUT, step, poke, waves, multi-file, and golden compare. You may do either track, or both. A good rhythm is browser lab first for the idea, then five minutes in the public IDE to harden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public HDL Simulator in a modern browser. Optional: keep a tiny counter or testbench sketch ready from learn Verilog. From this course folder, open module READMEs and EXAMPLES prompts as you go; the course self-check script can grade checklist items when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and jump to the HDL simulator section. All seven hdl-sim literacy labs ship, plus the style and synth bridge labs. If you prefer, use the published tools site instead. Either way, confirm you can reach the index—the next module sends you into the UI tour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Prefer Track B when you want graded challenges; prefer Track A when you want muscle memory in the real IDE. When you finish this intro checklist, continue to the UI tour.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the browser simulator</a:t>
            </a:r>
          </a:p>
          <a:p>
            <a:pPr algn="ctr">
              <a:lnSpc>
                <a:spcPts val="2200"/>
              </a:lnSpc>
              <a:spcBef>
                <a:spcPts val="1400"/>
              </a:spcBef>
            </a:pPr>
            <a:r>
              <a:rPr sz="2600" b="0">
                <a:solidFill>
                  <a:srgbClr val="333333"/>
                </a:solidFill>
                <a:latin typeface="Calibri"/>
              </a:rPr>
              <a:t>Welcome to learn HDL simulator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 toward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Across the course you’ll tour the five IDE panes, load a tiny DUT and use Run, Stop</a:t>
            </a:r>
          </a:p>
          <a:p>
            <a:pPr lvl="0" marL="457200" indent="-228600">
              <a:buFont typeface="Calibri"/>
              <a:spcAft>
                <a:spcPts val="1000"/>
              </a:spcAft>
              <a:buSzPct val="100000"/>
              <a:buChar char="•"/>
              <a:lnSpc>
                <a:spcPts val="2200"/>
              </a:lnSpc>
            </a:pPr>
            <a:r>
              <a:rPr sz="2000" b="0">
                <a:solidFill>
                  <a:srgbClr val="333333"/>
                </a:solidFill>
                <a:latin typeface="Calibri"/>
              </a:rPr>
              <a:t>Glance at style and synth hints</a:t>
            </a:r>
          </a:p>
          <a:p>
            <a:pPr lvl="0" marL="457200" indent="-228600">
              <a:buFont typeface="Calibri"/>
              <a:spcAft>
                <a:spcPts val="1000"/>
              </a:spcAft>
              <a:buSzPct val="100000"/>
              <a:buChar char="•"/>
              <a:lnSpc>
                <a:spcPts val="2200"/>
              </a:lnSpc>
            </a:pPr>
            <a:r>
              <a:rPr sz="2000" b="0">
                <a:solidFill>
                  <a:srgbClr val="333333"/>
                </a:solidFill>
                <a:latin typeface="Calibri"/>
              </a:rPr>
              <a:t>Sibling courses cover Verilog language depth, Icarus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Track A is the public HDL Simulator in a modern browser, Files, Hierarchy, Signals, Wave</a:t>
            </a:r>
          </a:p>
          <a:p>
            <a:pPr lvl="0" marL="457200" indent="-228600">
              <a:buFont typeface="Calibri"/>
              <a:spcAft>
                <a:spcPts val="1000"/>
              </a:spcAft>
              <a:buSzPct val="100000"/>
              <a:buChar char="•"/>
              <a:lnSpc>
                <a:spcPts val="2200"/>
              </a:lnSpc>
            </a:pPr>
            <a:r>
              <a:rPr sz="2000" b="0">
                <a:solidFill>
                  <a:srgbClr val="333333"/>
                </a:solidFill>
                <a:latin typeface="Calibri"/>
              </a:rPr>
              <a:t>Track B is the platform’s hdl-sim concept labs</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lab first for the idea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the public HDL Simulator in a modern browser</a:t>
            </a:r>
          </a:p>
          <a:p>
            <a:pPr lvl="0" marL="457200" indent="-228600">
              <a:buFont typeface="Calibri"/>
              <a:spcAft>
                <a:spcPts val="1000"/>
              </a:spcAft>
              <a:buSzPct val="100000"/>
              <a:buChar char="•"/>
              <a:lnSpc>
                <a:spcPts val="2200"/>
              </a:lnSpc>
            </a:pPr>
            <a:r>
              <a:rPr sz="2000" b="0">
                <a:solidFill>
                  <a:srgbClr val="333333"/>
                </a:solidFill>
                <a:latin typeface="Calibri"/>
              </a:rPr>
              <a:t>Optional: keep a tiny counter or testbench sketch ready from learn Verilog</a:t>
            </a:r>
          </a:p>
          <a:p>
            <a:pPr lvl="0" marL="457200" indent="-228600">
              <a:buFont typeface="Calibri"/>
              <a:spcAft>
                <a:spcPts val="1000"/>
              </a:spcAft>
              <a:buSzPct val="100000"/>
              <a:buChar char="•"/>
              <a:lnSpc>
                <a:spcPts val="2200"/>
              </a:lnSpc>
            </a:pPr>
            <a:r>
              <a:rPr sz="2000" b="0">
                <a:solidFill>
                  <a:srgbClr val="333333"/>
                </a:solidFill>
                <a:latin typeface="Calibri"/>
              </a:rPr>
              <a:t>From this course folder, open module READMEs and EXAMPLES prompts as you go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B</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a:t>
            </a:r>
          </a:p>
          <a:p>
            <a:pPr lvl="0" marL="457200" indent="-228600">
              <a:buFont typeface="Calibri"/>
              <a:spcAft>
                <a:spcPts val="1000"/>
              </a:spcAft>
              <a:buSzPct val="100000"/>
              <a:buChar char="•"/>
              <a:lnSpc>
                <a:spcPts val="2200"/>
              </a:lnSpc>
            </a:pPr>
            <a:r>
              <a:rPr sz="2000" b="0">
                <a:solidFill>
                  <a:srgbClr val="333333"/>
                </a:solidFill>
                <a:latin typeface="Calibri"/>
              </a:rPr>
              <a:t>All seven hdl-sim literacy labs ship, plus the style and synth bridge labs</a:t>
            </a:r>
          </a:p>
          <a:p>
            <a:pPr lvl="0" marL="457200" indent="-228600">
              <a:buFont typeface="Calibri"/>
              <a:spcAft>
                <a:spcPts val="1000"/>
              </a:spcAft>
              <a:buSzPct val="100000"/>
              <a:buChar char="•"/>
              <a:lnSpc>
                <a:spcPts val="2200"/>
              </a:lnSpc>
            </a:pPr>
            <a:r>
              <a:rPr sz="2000" b="0">
                <a:solidFill>
                  <a:srgbClr val="333333"/>
                </a:solidFill>
                <a:latin typeface="Calibri"/>
              </a:rPr>
              <a:t>If you prefer, use the published tools site instead</a:t>
            </a:r>
          </a:p>
          <a:p>
            <a:pPr lvl="0" marL="457200" indent="-228600">
              <a:buFont typeface="Calibri"/>
              <a:spcAft>
                <a:spcPts val="1000"/>
              </a:spcAft>
              <a:buSzPct val="100000"/>
              <a:buChar char="•"/>
              <a:lnSpc>
                <a:spcPts val="2200"/>
              </a:lnSpc>
            </a:pPr>
            <a:r>
              <a:rPr sz="2000" b="0">
                <a:solidFill>
                  <a:srgbClr val="333333"/>
                </a:solidFill>
                <a:latin typeface="Calibri"/>
              </a:rPr>
              <a:t>Confirm you can reach the index, the next module sends you into the UI tour lab</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Prefer Track B when you want graded challenges</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UI tour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