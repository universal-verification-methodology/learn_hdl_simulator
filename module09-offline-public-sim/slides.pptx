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graded browser lab this time. Open the public HDL Simulator and spend unstructured time: load a tiny DUT, run, stop, reset, step, add waves, and optional poke. The point is fluency without a challenge checklist steering every click.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Paste or open a tiny counter plus testbench. Compile or elaborate until Console is clean. Run a short window, Stop, Reset once. Step a few times. Add clock and q to the wave, place a cursor, and optionally poke a data net then release. Stop when the loop feels boring—that is fluency.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is not a score. Success is: you can open the IDE without hunting for panes, you can control time, and you can read one value from the wave with confidence. If you get stuck, revisit the matching hdl-sim literacy lab, then return to the public 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Stretch: mis-set top on purpose, read the Console error, fix it. Or force a net, watch the hazard, release it. Or compare q at cursor one to a handwritten golden. Keep the design tiny so the IDE skills stay the focus.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turn free practice into a day-long RTL rewrite. Do not skip Console when something fails. Do not leave forces active. And do not confuse this browser IDE with offline Icarus or Verilator fidelity—those paths come next when you need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public simulator, run at least one tiny DUT through Run, Stop, and Reset, and either add a wave signal or poke once. Check off the module checklist, take the short quiz if you want a pulse check, then continue to the wrap.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Free practice in the public IDE</a:t>
            </a:r>
          </a:p>
          <a:p>
            <a:pPr algn="ctr">
              <a:lnSpc>
                <a:spcPts val="2200"/>
              </a:lnSpc>
              <a:spcBef>
                <a:spcPts val="1400"/>
              </a:spcBef>
            </a:pPr>
            <a:r>
              <a:rPr sz="2600" b="0">
                <a:solidFill>
                  <a:srgbClr val="333333"/>
                </a:solidFill>
                <a:latin typeface="Calibri"/>
              </a:rPr>
              <a:t>No graded browser lab this time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offline public sim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simple practice loop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Paste or open a tiny counter plus testbench</a:t>
            </a:r>
          </a:p>
          <a:p>
            <a:pPr lvl="0" marL="457200" indent="-228600">
              <a:buFont typeface="Calibri"/>
              <a:spcAft>
                <a:spcPts val="1000"/>
              </a:spcAft>
              <a:buSzPct val="100000"/>
              <a:buChar char="•"/>
              <a:lnSpc>
                <a:spcPts val="2200"/>
              </a:lnSpc>
            </a:pPr>
            <a:r>
              <a:rPr sz="2000" b="0">
                <a:solidFill>
                  <a:srgbClr val="333333"/>
                </a:solidFill>
                <a:latin typeface="Calibri"/>
              </a:rPr>
              <a:t>Compile or elaborate until Console is clean</a:t>
            </a:r>
          </a:p>
          <a:p>
            <a:pPr lvl="0" marL="457200" indent="-228600">
              <a:buFont typeface="Calibri"/>
              <a:spcAft>
                <a:spcPts val="1000"/>
              </a:spcAft>
              <a:buSzPct val="100000"/>
              <a:buChar char="•"/>
              <a:lnSpc>
                <a:spcPts val="2200"/>
              </a:lnSpc>
            </a:pPr>
            <a:r>
              <a:rPr sz="2000" b="0">
                <a:solidFill>
                  <a:srgbClr val="333333"/>
                </a:solidFill>
                <a:latin typeface="Calibri"/>
              </a:rPr>
              <a:t>Run a short window, Stop, Reset once</a:t>
            </a:r>
          </a:p>
          <a:p>
            <a:pPr lvl="0" marL="457200" indent="-228600">
              <a:buFont typeface="Calibri"/>
              <a:spcAft>
                <a:spcPts val="1000"/>
              </a:spcAft>
              <a:buSzPct val="100000"/>
              <a:buChar char="•"/>
              <a:lnSpc>
                <a:spcPts val="2200"/>
              </a:lnSpc>
            </a:pPr>
            <a:r>
              <a:rPr sz="2000" b="0">
                <a:solidFill>
                  <a:srgbClr val="333333"/>
                </a:solidFill>
                <a:latin typeface="Calibri"/>
              </a:rPr>
              <a:t>Step a few times</a:t>
            </a:r>
          </a:p>
          <a:p>
            <a:pPr lvl="0" marL="457200" indent="-228600">
              <a:buFont typeface="Calibri"/>
              <a:spcAft>
                <a:spcPts val="1000"/>
              </a:spcAft>
              <a:buSzPct val="100000"/>
              <a:buChar char="•"/>
              <a:lnSpc>
                <a:spcPts val="2200"/>
              </a:lnSpc>
            </a:pPr>
            <a:r>
              <a:rPr sz="2000" b="0">
                <a:solidFill>
                  <a:srgbClr val="333333"/>
                </a:solidFill>
                <a:latin typeface="Calibri"/>
              </a:rPr>
              <a:t>Add clock and q to the wave, place a cursor, and optionally poke a data net then release</a:t>
            </a:r>
          </a:p>
          <a:p>
            <a:pPr lvl="0" marL="457200" indent="-228600">
              <a:buFont typeface="Calibri"/>
              <a:spcAft>
                <a:spcPts val="1000"/>
              </a:spcAft>
              <a:buSzPct val="100000"/>
              <a:buChar char="•"/>
              <a:lnSpc>
                <a:spcPts val="2200"/>
              </a:lnSpc>
            </a:pPr>
            <a:r>
              <a:rPr sz="2000" b="0">
                <a:solidFill>
                  <a:srgbClr val="333333"/>
                </a:solidFill>
                <a:latin typeface="Calibri"/>
              </a:rPr>
              <a:t>Stop when the loop feels boring, that is fluency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offline public sim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success looks like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Success is not a score</a:t>
            </a:r>
          </a:p>
          <a:p>
            <a:pPr lvl="0" marL="457200" indent="-228600">
              <a:buFont typeface="Calibri"/>
              <a:spcAft>
                <a:spcPts val="1000"/>
              </a:spcAft>
              <a:buSzPct val="100000"/>
              <a:buChar char="•"/>
              <a:lnSpc>
                <a:spcPts val="2200"/>
              </a:lnSpc>
            </a:pPr>
            <a:r>
              <a:rPr sz="2000" b="0">
                <a:solidFill>
                  <a:srgbClr val="333333"/>
                </a:solidFill>
                <a:latin typeface="Calibri"/>
              </a:rPr>
              <a:t>Success is: you can open the IDE without hunting for panes, you can control time</a:t>
            </a:r>
          </a:p>
          <a:p>
            <a:pPr lvl="0" marL="457200" indent="-228600">
              <a:buFont typeface="Calibri"/>
              <a:spcAft>
                <a:spcPts val="1000"/>
              </a:spcAft>
              <a:buSzPct val="100000"/>
              <a:buChar char="•"/>
              <a:lnSpc>
                <a:spcPts val="2200"/>
              </a:lnSpc>
            </a:pPr>
            <a:r>
              <a:rPr sz="2000" b="0">
                <a:solidFill>
                  <a:srgbClr val="333333"/>
                </a:solidFill>
                <a:latin typeface="Calibri"/>
              </a:rPr>
              <a:t>If you get stuck, revisit the matching hdl-sim literacy lab, then return to the public IDE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offline public sim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Optional depth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Stretch: mis-set top on purpose, read the Console error, fix it</a:t>
            </a:r>
          </a:p>
          <a:p>
            <a:pPr lvl="0" marL="457200" indent="-228600">
              <a:buFont typeface="Calibri"/>
              <a:spcAft>
                <a:spcPts val="1000"/>
              </a:spcAft>
              <a:buSzPct val="100000"/>
              <a:buChar char="•"/>
              <a:lnSpc>
                <a:spcPts val="2200"/>
              </a:lnSpc>
            </a:pPr>
            <a:r>
              <a:rPr sz="2000" b="0">
                <a:solidFill>
                  <a:srgbClr val="333333"/>
                </a:solidFill>
                <a:latin typeface="Calibri"/>
              </a:rPr>
              <a:t>Or force a net, watch the hazard, release it</a:t>
            </a:r>
          </a:p>
          <a:p>
            <a:pPr lvl="0" marL="457200" indent="-228600">
              <a:buFont typeface="Calibri"/>
              <a:spcAft>
                <a:spcPts val="1000"/>
              </a:spcAft>
              <a:buSzPct val="100000"/>
              <a:buChar char="•"/>
              <a:lnSpc>
                <a:spcPts val="2200"/>
              </a:lnSpc>
            </a:pPr>
            <a:r>
              <a:rPr sz="2000" b="0">
                <a:solidFill>
                  <a:srgbClr val="333333"/>
                </a:solidFill>
                <a:latin typeface="Calibri"/>
              </a:rPr>
              <a:t>Or compare q at cursor one to a handwritten golden</a:t>
            </a:r>
          </a:p>
          <a:p>
            <a:pPr lvl="0" marL="457200" indent="-228600">
              <a:buFont typeface="Calibri"/>
              <a:spcAft>
                <a:spcPts val="1000"/>
              </a:spcAft>
              <a:buSzPct val="100000"/>
              <a:buChar char="•"/>
              <a:lnSpc>
                <a:spcPts val="2200"/>
              </a:lnSpc>
            </a:pPr>
            <a:r>
              <a:rPr sz="2000" b="0">
                <a:solidFill>
                  <a:srgbClr val="333333"/>
                </a:solidFill>
                <a:latin typeface="Calibri"/>
              </a:rPr>
              <a:t>Keep the design tiny so the IDE skills stay the focus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offline public sim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turn free practice into a day-long RTL rewrite</a:t>
            </a:r>
          </a:p>
          <a:p>
            <a:pPr lvl="0" marL="457200" indent="-228600">
              <a:buFont typeface="Calibri"/>
              <a:spcAft>
                <a:spcPts val="1000"/>
              </a:spcAft>
              <a:buSzPct val="100000"/>
              <a:buChar char="•"/>
              <a:lnSpc>
                <a:spcPts val="2200"/>
              </a:lnSpc>
            </a:pPr>
            <a:r>
              <a:rPr sz="2000" b="0">
                <a:solidFill>
                  <a:srgbClr val="333333"/>
                </a:solidFill>
                <a:latin typeface="Calibri"/>
              </a:rPr>
              <a:t>Do not skip Console when something fails</a:t>
            </a:r>
          </a:p>
          <a:p>
            <a:pPr lvl="0" marL="457200" indent="-228600">
              <a:buFont typeface="Calibri"/>
              <a:spcAft>
                <a:spcPts val="1000"/>
              </a:spcAft>
              <a:buSzPct val="100000"/>
              <a:buChar char="•"/>
              <a:lnSpc>
                <a:spcPts val="2200"/>
              </a:lnSpc>
            </a:pPr>
            <a:r>
              <a:rPr sz="2000" b="0">
                <a:solidFill>
                  <a:srgbClr val="333333"/>
                </a:solidFill>
                <a:latin typeface="Calibri"/>
              </a:rPr>
              <a:t>Do not leave forces active</a:t>
            </a:r>
          </a:p>
          <a:p>
            <a:pPr lvl="0" marL="457200" indent="-228600">
              <a:buFont typeface="Calibri"/>
              <a:spcAft>
                <a:spcPts val="1000"/>
              </a:spcAft>
              <a:buSzPct val="100000"/>
              <a:buChar char="•"/>
              <a:lnSpc>
                <a:spcPts val="2200"/>
              </a:lnSpc>
            </a:pPr>
            <a:r>
              <a:rPr sz="2000" b="0">
                <a:solidFill>
                  <a:srgbClr val="333333"/>
                </a:solidFill>
                <a:latin typeface="Calibri"/>
              </a:rPr>
              <a:t>And do not confuse this browser IDE with offline Icarus or Verilator fidelity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offline public sim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Open the public simulator, run at least one tiny DUT through Run, Stop</a:t>
            </a:r>
          </a:p>
          <a:p>
            <a:pPr lvl="0" marL="457200" indent="-228600">
              <a:buFont typeface="Calibri"/>
              <a:spcAft>
                <a:spcPts val="1000"/>
              </a:spcAft>
              <a:buSzPct val="100000"/>
              <a:buChar char="•"/>
              <a:lnSpc>
                <a:spcPts val="2200"/>
              </a:lnSpc>
            </a:pPr>
            <a:r>
              <a:rPr sz="2000" b="0">
                <a:solidFill>
                  <a:srgbClr val="333333"/>
                </a:solidFill>
                <a:latin typeface="Calibri"/>
              </a:rPr>
              <a:t>Check off the module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offline public sim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