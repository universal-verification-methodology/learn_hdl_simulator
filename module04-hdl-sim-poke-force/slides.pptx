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Sometimes you need to deposit a value while the sim is live. Poke is a soft deposit for the next evaluation. Force hard-overrides a net until you Release. Release clears the force so normal drivers resume. Used carefully, these tools save hours; used carelessly, they create mysteries that look like RTL bugs.</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Prefer poke when you want a temporary live value. Prefer force only when you must hold a net against its drivers—and always release when you are done. Reset nets can be held for debug; data nets are the usual poke or force targets. Clocks are a special hazard: forcing a clock is unsafe and easy to forget.</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the browser lab, load the starter that pokes and forces data then releases—status should read ready with no force left active. Try forcing the clock and watch the hazard status appear; release it immediately. Challenges require the poke, force, and release triad and a clean exit with no leftover forces.</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the public IDE, poke a data net once and observe the wave. Force the same net, run a little, then release and confirm drivers resume. Avoid forcing the clock. If the tool warns about active forces, treat that as a first-class debug clue—not noise.</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Do not leave forces active and then “debug” wrong RTL. Do not force clocks to “make time move.” Do not confuse poke with force—poke does not stick the same way. And always know which signal you selected before you deposit a value.</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Complete the checklist for at least one track—preferably both. Practice poke, force, and release, and leave the session with no active forces. When you are ready, take the short quiz, then continue to full-sim waves.</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1828800"/>
            <a:ext cx="11064240" cy="2743200"/>
          </a:xfrm>
          <a:prstGeom prst="rect">
            <a:avLst/>
          </a:prstGeom>
          <a:noFill/>
        </p:spPr>
        <p:txBody>
          <a:bodyPr wrap="square">
            <a:noAutofit/>
          </a:bodyPr>
          <a:lstStyle/>
          <a:p>
            <a:pPr algn="ctr">
              <a:lnSpc>
                <a:spcPts val="2200"/>
              </a:lnSpc>
              <a:spcAft>
                <a:spcPts val="400"/>
              </a:spcAft>
            </a:pPr>
            <a:r>
              <a:rPr sz="4000" b="1">
                <a:solidFill>
                  <a:srgbClr val="1A1A2E"/>
                </a:solidFill>
                <a:latin typeface="Calibri"/>
              </a:rPr>
              <a:t>Poke / force / release</a:t>
            </a:r>
          </a:p>
          <a:p>
            <a:pPr algn="ctr">
              <a:lnSpc>
                <a:spcPts val="2200"/>
              </a:lnSpc>
              <a:spcBef>
                <a:spcPts val="1400"/>
              </a:spcBef>
            </a:pPr>
            <a:r>
              <a:rPr sz="2600" b="0">
                <a:solidFill>
                  <a:srgbClr val="333333"/>
                </a:solidFill>
                <a:latin typeface="Calibri"/>
              </a:rPr>
              <a:t>Sometimes you need to deposit a value while the sim is live</a:t>
            </a:r>
          </a:p>
        </p:txBody>
      </p:sp>
      <p:sp>
        <p:nvSpPr>
          <p:cNvPr id="3" name="TextBox 2"/>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learn_hdl_simulator — hdl sim poke force</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11480"/>
            <a:ext cx="11064240" cy="777240"/>
          </a:xfrm>
          <a:prstGeom prst="rect">
            <a:avLst/>
          </a:prstGeom>
          <a:noFill/>
        </p:spPr>
        <p:txBody>
          <a:bodyPr wrap="square">
            <a:noAutofit/>
          </a:bodyPr>
          <a:lstStyle/>
          <a:p>
            <a:pPr>
              <a:lnSpc>
                <a:spcPts val="2200"/>
              </a:lnSpc>
            </a:pPr>
            <a:r>
              <a:rPr sz="2800" b="1">
                <a:solidFill>
                  <a:srgbClr val="1A1A2E"/>
                </a:solidFill>
                <a:latin typeface="Calibri"/>
              </a:rPr>
              <a:t>Soft poke vs sticky force</a:t>
            </a:r>
          </a:p>
        </p:txBody>
      </p:sp>
      <p:sp>
        <p:nvSpPr>
          <p:cNvPr id="3" name="TextBox 2"/>
          <p:cNvSpPr txBox="1"/>
          <p:nvPr/>
        </p:nvSpPr>
        <p:spPr>
          <a:xfrm>
            <a:off x="548640" y="1234440"/>
            <a:ext cx="11064240" cy="4937760"/>
          </a:xfrm>
          <a:prstGeom prst="rect">
            <a:avLst/>
          </a:prstGeom>
          <a:noFill/>
        </p:spPr>
        <p:txBody>
          <a:bodyPr wrap="square">
            <a:noAutofit/>
          </a:bodyPr>
          <a:lstStyle/>
          <a:p>
            <a:pPr lvl="0" marL="457200" indent="-228600">
              <a:buFont typeface="Calibri"/>
              <a:spcAft>
                <a:spcPts val="1000"/>
              </a:spcAft>
              <a:buSzPct val="100000"/>
              <a:buChar char="•"/>
              <a:lnSpc>
                <a:spcPts val="2200"/>
              </a:lnSpc>
            </a:pPr>
            <a:r>
              <a:rPr sz="2000" b="0">
                <a:solidFill>
                  <a:srgbClr val="333333"/>
                </a:solidFill>
                <a:latin typeface="Calibri"/>
              </a:rPr>
              <a:t>Prefer poke when you want a temporary live value</a:t>
            </a:r>
          </a:p>
          <a:p>
            <a:pPr lvl="0" marL="457200" indent="-228600">
              <a:buFont typeface="Calibri"/>
              <a:spcAft>
                <a:spcPts val="1000"/>
              </a:spcAft>
              <a:buSzPct val="100000"/>
              <a:buChar char="•"/>
              <a:lnSpc>
                <a:spcPts val="2200"/>
              </a:lnSpc>
            </a:pPr>
            <a:r>
              <a:rPr sz="2000" b="0">
                <a:solidFill>
                  <a:srgbClr val="333333"/>
                </a:solidFill>
                <a:latin typeface="Calibri"/>
              </a:rPr>
              <a:t>Prefer force only when you must hold a net against its drivers</a:t>
            </a:r>
          </a:p>
          <a:p>
            <a:pPr lvl="0" marL="457200" indent="-228600">
              <a:buFont typeface="Calibri"/>
              <a:spcAft>
                <a:spcPts val="1000"/>
              </a:spcAft>
              <a:buSzPct val="100000"/>
              <a:buChar char="•"/>
              <a:lnSpc>
                <a:spcPts val="2200"/>
              </a:lnSpc>
            </a:pPr>
            <a:r>
              <a:rPr sz="2000" b="0">
                <a:solidFill>
                  <a:srgbClr val="333333"/>
                </a:solidFill>
                <a:latin typeface="Calibri"/>
              </a:rPr>
              <a:t>Reset nets can be held for debug; data nets are the usual poke or force targets</a:t>
            </a:r>
          </a:p>
          <a:p>
            <a:pPr lvl="0" marL="457200" indent="-228600">
              <a:buFont typeface="Calibri"/>
              <a:spcAft>
                <a:spcPts val="1000"/>
              </a:spcAft>
              <a:buSzPct val="100000"/>
              <a:buChar char="•"/>
              <a:lnSpc>
                <a:spcPts val="2200"/>
              </a:lnSpc>
            </a:pPr>
            <a:r>
              <a:rPr sz="2000" b="0">
                <a:solidFill>
                  <a:srgbClr val="333333"/>
                </a:solidFill>
                <a:latin typeface="Calibri"/>
              </a:rPr>
              <a:t>Clocks are a special hazard: forcing a clock is unsafe and easy to forget</a:t>
            </a:r>
          </a:p>
        </p:txBody>
      </p:sp>
      <p:sp>
        <p:nvSpPr>
          <p:cNvPr id="4" name="TextBox 3"/>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learn_hdl_simulator — hdl sim poke force</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11480"/>
            <a:ext cx="11064240" cy="777240"/>
          </a:xfrm>
          <a:prstGeom prst="rect">
            <a:avLst/>
          </a:prstGeom>
          <a:noFill/>
        </p:spPr>
        <p:txBody>
          <a:bodyPr wrap="square">
            <a:noAutofit/>
          </a:bodyPr>
          <a:lstStyle/>
          <a:p>
            <a:pPr>
              <a:lnSpc>
                <a:spcPts val="2200"/>
              </a:lnSpc>
            </a:pPr>
            <a:r>
              <a:rPr sz="2800" b="1">
                <a:solidFill>
                  <a:srgbClr val="1A1A2E"/>
                </a:solidFill>
                <a:latin typeface="Calibri"/>
              </a:rPr>
              <a:t>Browser lab</a:t>
            </a:r>
          </a:p>
        </p:txBody>
      </p:sp>
      <p:pic>
        <p:nvPicPr>
          <p:cNvPr id="3" name="Picture 2" descr="lab-starter.png"/>
          <p:cNvPicPr>
            <a:picLocks noChangeAspect="1"/>
          </p:cNvPicPr>
          <p:nvPr/>
        </p:nvPicPr>
        <p:blipFill>
          <a:blip r:embed="rId2"/>
          <a:stretch>
            <a:fillRect/>
          </a:stretch>
        </p:blipFill>
        <p:spPr>
          <a:xfrm>
            <a:off x="548640" y="1143000"/>
            <a:ext cx="6502400" cy="4572000"/>
          </a:xfrm>
          <a:prstGeom prst="rect">
            <a:avLst/>
          </a:prstGeom>
        </p:spPr>
      </p:pic>
      <p:sp>
        <p:nvSpPr>
          <p:cNvPr id="4" name="TextBox 3"/>
          <p:cNvSpPr txBox="1"/>
          <p:nvPr/>
        </p:nvSpPr>
        <p:spPr>
          <a:xfrm>
            <a:off x="548640" y="5897880"/>
            <a:ext cx="11064240" cy="411480"/>
          </a:xfrm>
          <a:prstGeom prst="rect">
            <a:avLst/>
          </a:prstGeom>
          <a:noFill/>
        </p:spPr>
        <p:txBody>
          <a:bodyPr wrap="square">
            <a:noAutofit/>
          </a:bodyPr>
          <a:lstStyle/>
          <a:p>
            <a:pPr>
              <a:lnSpc>
                <a:spcPts val="2200"/>
              </a:lnSpc>
            </a:pPr>
            <a:r>
              <a:rPr sz="1200" b="0">
                <a:solidFill>
                  <a:srgbClr val="333333"/>
                </a:solidFill>
                <a:latin typeface="Calibri"/>
              </a:rPr>
              <a:t>Lab starter</a:t>
            </a:r>
          </a:p>
        </p:txBody>
      </p:sp>
      <p:sp>
        <p:nvSpPr>
          <p:cNvPr id="5" name="TextBox 4"/>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learn_hdl_simulator — hdl sim poke force</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11480"/>
            <a:ext cx="11064240" cy="777240"/>
          </a:xfrm>
          <a:prstGeom prst="rect">
            <a:avLst/>
          </a:prstGeom>
          <a:noFill/>
        </p:spPr>
        <p:txBody>
          <a:bodyPr wrap="square">
            <a:noAutofit/>
          </a:bodyPr>
          <a:lstStyle/>
          <a:p>
            <a:pPr>
              <a:lnSpc>
                <a:spcPts val="2200"/>
              </a:lnSpc>
            </a:pPr>
            <a:r>
              <a:rPr sz="2800" b="1">
                <a:solidFill>
                  <a:srgbClr val="1A1A2E"/>
                </a:solidFill>
                <a:latin typeface="Calibri"/>
              </a:rPr>
              <a:t>Public simulator practice</a:t>
            </a:r>
          </a:p>
        </p:txBody>
      </p:sp>
      <p:sp>
        <p:nvSpPr>
          <p:cNvPr id="3" name="TextBox 2"/>
          <p:cNvSpPr txBox="1"/>
          <p:nvPr/>
        </p:nvSpPr>
        <p:spPr>
          <a:xfrm>
            <a:off x="548640" y="1234440"/>
            <a:ext cx="11064240" cy="4937760"/>
          </a:xfrm>
          <a:prstGeom prst="rect">
            <a:avLst/>
          </a:prstGeom>
          <a:noFill/>
        </p:spPr>
        <p:txBody>
          <a:bodyPr wrap="square">
            <a:noAutofit/>
          </a:bodyPr>
          <a:lstStyle/>
          <a:p>
            <a:pPr lvl="0" marL="457200" indent="-228600">
              <a:buFont typeface="Calibri"/>
              <a:spcAft>
                <a:spcPts val="1000"/>
              </a:spcAft>
              <a:buSzPct val="100000"/>
              <a:buChar char="•"/>
              <a:lnSpc>
                <a:spcPts val="2200"/>
              </a:lnSpc>
            </a:pPr>
            <a:r>
              <a:rPr sz="2000" b="0">
                <a:solidFill>
                  <a:srgbClr val="333333"/>
                </a:solidFill>
                <a:latin typeface="Calibri"/>
              </a:rPr>
              <a:t>In the public IDE, poke a data net once and observe the wave</a:t>
            </a:r>
          </a:p>
          <a:p>
            <a:pPr lvl="0" marL="457200" indent="-228600">
              <a:buFont typeface="Calibri"/>
              <a:spcAft>
                <a:spcPts val="1000"/>
              </a:spcAft>
              <a:buSzPct val="100000"/>
              <a:buChar char="•"/>
              <a:lnSpc>
                <a:spcPts val="2200"/>
              </a:lnSpc>
            </a:pPr>
            <a:r>
              <a:rPr sz="2000" b="0">
                <a:solidFill>
                  <a:srgbClr val="333333"/>
                </a:solidFill>
                <a:latin typeface="Calibri"/>
              </a:rPr>
              <a:t>Force the same net, run a little, then release and confirm drivers resume</a:t>
            </a:r>
          </a:p>
          <a:p>
            <a:pPr lvl="0" marL="457200" indent="-228600">
              <a:buFont typeface="Calibri"/>
              <a:spcAft>
                <a:spcPts val="1000"/>
              </a:spcAft>
              <a:buSzPct val="100000"/>
              <a:buChar char="•"/>
              <a:lnSpc>
                <a:spcPts val="2200"/>
              </a:lnSpc>
            </a:pPr>
            <a:r>
              <a:rPr sz="2000" b="0">
                <a:solidFill>
                  <a:srgbClr val="333333"/>
                </a:solidFill>
                <a:latin typeface="Calibri"/>
              </a:rPr>
              <a:t>Avoid forcing the clock</a:t>
            </a:r>
          </a:p>
          <a:p>
            <a:pPr lvl="0" marL="457200" indent="-228600">
              <a:buFont typeface="Calibri"/>
              <a:spcAft>
                <a:spcPts val="1000"/>
              </a:spcAft>
              <a:buSzPct val="100000"/>
              <a:buChar char="•"/>
              <a:lnSpc>
                <a:spcPts val="2200"/>
              </a:lnSpc>
            </a:pPr>
            <a:r>
              <a:rPr sz="2000" b="0">
                <a:solidFill>
                  <a:srgbClr val="333333"/>
                </a:solidFill>
                <a:latin typeface="Calibri"/>
              </a:rPr>
              <a:t>If the tool warns about active forces, treat that as a first-class debug clue, not noise</a:t>
            </a:r>
          </a:p>
        </p:txBody>
      </p:sp>
      <p:sp>
        <p:nvSpPr>
          <p:cNvPr id="4" name="TextBox 3"/>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learn_hdl_simulator — hdl sim poke force</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11480"/>
            <a:ext cx="11064240" cy="777240"/>
          </a:xfrm>
          <a:prstGeom prst="rect">
            <a:avLst/>
          </a:prstGeom>
          <a:noFill/>
        </p:spPr>
        <p:txBody>
          <a:bodyPr wrap="square">
            <a:noAutofit/>
          </a:bodyPr>
          <a:lstStyle/>
          <a:p>
            <a:pPr>
              <a:lnSpc>
                <a:spcPts val="2200"/>
              </a:lnSpc>
            </a:pPr>
            <a:r>
              <a:rPr sz="2800" b="1">
                <a:solidFill>
                  <a:srgbClr val="1A1A2E"/>
                </a:solidFill>
                <a:latin typeface="Calibri"/>
              </a:rPr>
              <a:t>Pitfalls to watch</a:t>
            </a:r>
          </a:p>
        </p:txBody>
      </p:sp>
      <p:sp>
        <p:nvSpPr>
          <p:cNvPr id="3" name="TextBox 2"/>
          <p:cNvSpPr txBox="1"/>
          <p:nvPr/>
        </p:nvSpPr>
        <p:spPr>
          <a:xfrm>
            <a:off x="548640" y="1234440"/>
            <a:ext cx="11064240" cy="4937760"/>
          </a:xfrm>
          <a:prstGeom prst="rect">
            <a:avLst/>
          </a:prstGeom>
          <a:noFill/>
        </p:spPr>
        <p:txBody>
          <a:bodyPr wrap="square">
            <a:noAutofit/>
          </a:bodyPr>
          <a:lstStyle/>
          <a:p>
            <a:pPr lvl="0" marL="457200" indent="-228600">
              <a:buFont typeface="Calibri"/>
              <a:spcAft>
                <a:spcPts val="1000"/>
              </a:spcAft>
              <a:buSzPct val="100000"/>
              <a:buChar char="•"/>
              <a:lnSpc>
                <a:spcPts val="2200"/>
              </a:lnSpc>
            </a:pPr>
            <a:r>
              <a:rPr sz="2000" b="0">
                <a:solidFill>
                  <a:srgbClr val="333333"/>
                </a:solidFill>
                <a:latin typeface="Calibri"/>
              </a:rPr>
              <a:t>Do not leave forces active and then “debug” wrong RTL</a:t>
            </a:r>
          </a:p>
          <a:p>
            <a:pPr lvl="0" marL="457200" indent="-228600">
              <a:buFont typeface="Calibri"/>
              <a:spcAft>
                <a:spcPts val="1000"/>
              </a:spcAft>
              <a:buSzPct val="100000"/>
              <a:buChar char="•"/>
              <a:lnSpc>
                <a:spcPts val="2200"/>
              </a:lnSpc>
            </a:pPr>
            <a:r>
              <a:rPr sz="2000" b="0">
                <a:solidFill>
                  <a:srgbClr val="333333"/>
                </a:solidFill>
                <a:latin typeface="Calibri"/>
              </a:rPr>
              <a:t>Do not force clocks to “make time move.” Do not confuse poke with force</a:t>
            </a:r>
          </a:p>
          <a:p>
            <a:pPr lvl="0" marL="457200" indent="-228600">
              <a:buFont typeface="Calibri"/>
              <a:spcAft>
                <a:spcPts val="1000"/>
              </a:spcAft>
              <a:buSzPct val="100000"/>
              <a:buChar char="•"/>
              <a:lnSpc>
                <a:spcPts val="2200"/>
              </a:lnSpc>
            </a:pPr>
            <a:r>
              <a:rPr sz="2000" b="0">
                <a:solidFill>
                  <a:srgbClr val="333333"/>
                </a:solidFill>
                <a:latin typeface="Calibri"/>
              </a:rPr>
              <a:t>And always know which signal you selected before you deposit a value</a:t>
            </a:r>
          </a:p>
        </p:txBody>
      </p:sp>
      <p:sp>
        <p:nvSpPr>
          <p:cNvPr id="4" name="TextBox 3"/>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learn_hdl_simulator — hdl sim poke force</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11480"/>
            <a:ext cx="11064240" cy="777240"/>
          </a:xfrm>
          <a:prstGeom prst="rect">
            <a:avLst/>
          </a:prstGeom>
          <a:noFill/>
        </p:spPr>
        <p:txBody>
          <a:bodyPr wrap="square">
            <a:noAutofit/>
          </a:bodyPr>
          <a:lstStyle/>
          <a:p>
            <a:pPr>
              <a:lnSpc>
                <a:spcPts val="2200"/>
              </a:lnSpc>
            </a:pPr>
            <a:r>
              <a:rPr sz="2800" b="1">
                <a:solidFill>
                  <a:srgbClr val="1A1A2E"/>
                </a:solidFill>
                <a:latin typeface="Calibri"/>
              </a:rPr>
              <a:t>Your turn</a:t>
            </a:r>
          </a:p>
        </p:txBody>
      </p:sp>
      <p:sp>
        <p:nvSpPr>
          <p:cNvPr id="3" name="TextBox 2"/>
          <p:cNvSpPr txBox="1"/>
          <p:nvPr/>
        </p:nvSpPr>
        <p:spPr>
          <a:xfrm>
            <a:off x="548640" y="1234440"/>
            <a:ext cx="11064240" cy="4937760"/>
          </a:xfrm>
          <a:prstGeom prst="rect">
            <a:avLst/>
          </a:prstGeom>
          <a:noFill/>
        </p:spPr>
        <p:txBody>
          <a:bodyPr wrap="square">
            <a:noAutofit/>
          </a:bodyPr>
          <a:lstStyle/>
          <a:p>
            <a:pPr lvl="0" marL="457200" indent="-228600">
              <a:buFont typeface="Calibri"/>
              <a:spcAft>
                <a:spcPts val="1000"/>
              </a:spcAft>
              <a:buSzPct val="100000"/>
              <a:buChar char="•"/>
              <a:lnSpc>
                <a:spcPts val="2200"/>
              </a:lnSpc>
            </a:pPr>
            <a:r>
              <a:rPr sz="2000" b="0">
                <a:solidFill>
                  <a:srgbClr val="333333"/>
                </a:solidFill>
                <a:latin typeface="Calibri"/>
              </a:rPr>
              <a:t>Complete the checklist for at least one track, preferably both</a:t>
            </a:r>
          </a:p>
          <a:p>
            <a:pPr lvl="0" marL="457200" indent="-228600">
              <a:buFont typeface="Calibri"/>
              <a:spcAft>
                <a:spcPts val="1000"/>
              </a:spcAft>
              <a:buSzPct val="100000"/>
              <a:buChar char="•"/>
              <a:lnSpc>
                <a:spcPts val="2200"/>
              </a:lnSpc>
            </a:pPr>
            <a:r>
              <a:rPr sz="2000" b="0">
                <a:solidFill>
                  <a:srgbClr val="333333"/>
                </a:solidFill>
                <a:latin typeface="Calibri"/>
              </a:rPr>
              <a:t>Practice poke, force, and release, and leave the session with no active forces</a:t>
            </a:r>
          </a:p>
          <a:p>
            <a:pPr lvl="0" marL="457200" indent="-228600">
              <a:buFont typeface="Calibri"/>
              <a:spcAft>
                <a:spcPts val="1000"/>
              </a:spcAft>
              <a:buSzPct val="100000"/>
              <a:buChar char="•"/>
              <a:lnSpc>
                <a:spcPts val="2200"/>
              </a:lnSpc>
            </a:pPr>
            <a:r>
              <a:rPr sz="2000" b="0">
                <a:solidFill>
                  <a:srgbClr val="333333"/>
                </a:solidFill>
                <a:latin typeface="Calibri"/>
              </a:rPr>
              <a:t>When you are ready, take the short quiz, then continue to full-sim waves</a:t>
            </a:r>
          </a:p>
        </p:txBody>
      </p:sp>
      <p:sp>
        <p:nvSpPr>
          <p:cNvPr id="4" name="TextBox 3"/>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learn_hdl_simulator — hdl sim poke force</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